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C7EC">
              <a:alpha val="82000"/>
            </a:srgbClr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Japan Power Market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11430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C7EC"/>
                </a:solidFill>
              </a:rPr>
              <a:t>May 2026 | JEPX structure, Tokyo/Kansai supply shape, fuel proxy screen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1874520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84248"/>
            <a:ext cx="4910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Desk read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3232" y="226771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8EEF5"/>
                </a:solidFill>
              </a:rPr>
              <a:t>May screened as a shoulder-season easing month in the sample price data, but the operational read is more nuanced: Tokyo remained more thermal-exposed, while public JEPX stack data showed broad system balance with pockets of thin East/West area-group depth.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87452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1874520"/>
            <a:ext cx="41148" cy="1143000"/>
          </a:xfrm>
          <a:prstGeom prst="rect">
            <a:avLst/>
          </a:prstGeom>
          <a:solidFill>
            <a:srgbClr val="54C7EC"/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7064" y="199339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System sample avg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27064" y="225856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21.63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27064" y="26791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JPY/kWh, May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8028432" y="187452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28432" y="1874520"/>
            <a:ext cx="41148" cy="1143000"/>
          </a:xfrm>
          <a:prstGeom prst="rect">
            <a:avLst/>
          </a:prstGeom>
          <a:solidFill>
            <a:srgbClr val="F4B844"/>
          </a:solidFill>
          <a:ln w="12700">
            <a:solidFill>
              <a:srgbClr val="F4B84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199339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Tokyo premium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174736" y="225856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+2.41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74736" y="26791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JPY/kWh vs Kansai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9985248" y="187452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85248" y="1874520"/>
            <a:ext cx="41148" cy="1143000"/>
          </a:xfrm>
          <a:prstGeom prst="rect">
            <a:avLst/>
          </a:prstGeom>
          <a:solidFill>
            <a:srgbClr val="F26D7D"/>
          </a:solidFill>
          <a:ln w="12700">
            <a:solidFill>
              <a:srgbClr val="F26D7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31552" y="199339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Stack scarcity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131552" y="225856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131552" y="26791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System blocks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6080760" y="324612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3246120"/>
            <a:ext cx="41148" cy="1143000"/>
          </a:xfrm>
          <a:prstGeom prst="rect">
            <a:avLst/>
          </a:prstGeom>
          <a:solidFill>
            <a:srgbClr val="F9734D"/>
          </a:solidFill>
          <a:ln w="12700">
            <a:solidFill>
              <a:srgbClr val="F973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336499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Tokyo residual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27064" y="363016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58.6%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27064" y="40507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Thermal share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8028432" y="324612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28432" y="3246120"/>
            <a:ext cx="41148" cy="1143000"/>
          </a:xfrm>
          <a:prstGeom prst="rect">
            <a:avLst/>
          </a:prstGeom>
          <a:solidFill>
            <a:srgbClr val="4AC18E"/>
          </a:solidFill>
          <a:ln w="12700">
            <a:solidFill>
              <a:srgbClr val="4AC18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74736" y="336499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Kansai nuclear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174736" y="363016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28.4%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174736" y="40507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Generation share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9985248" y="3246120"/>
            <a:ext cx="1737360" cy="1143000"/>
          </a:xfrm>
          <a:prstGeom prst="roundRect">
            <a:avLst>
              <a:gd name="adj" fmla="val 4800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85248" y="3246120"/>
            <a:ext cx="41148" cy="1143000"/>
          </a:xfrm>
          <a:prstGeom prst="rect">
            <a:avLst/>
          </a:prstGeom>
          <a:solidFill>
            <a:srgbClr val="A277F2"/>
          </a:solidFill>
          <a:ln w="12700">
            <a:solidFill>
              <a:srgbClr val="A277F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31552" y="336499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Intraday volume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131552" y="363016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24.5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131552" y="40507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GWh/day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548640" y="52120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8B4"/>
                </a:solidFill>
              </a:rPr>
              <a:t>Core evidence: processed JEPX offer-stack / intraday data and Tokyo-Kansai generation mix. Fuel, SRMC, futures, and weather are dashboard sample/proxy inputs unless replaced by vendor/uploaded data.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148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Japan Fuel &amp; Power Market Dashboard | May 2026 report | Public / sample-data screening deck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9921240" y="653796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Generated 2026-06-10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C7EC">
              <a:alpha val="82000"/>
            </a:srgbClr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and Evidence 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11384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4"/>
                </a:solidFill>
              </a:rPr>
              <a:t>May 1-31, 2026; offer-stack coverage begins May 3 in the processed public cache.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Japan Fuel &amp; Power Market Dashboard | May 2026 report | Public / sample-data screening deck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9921240" y="653796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Generated 2026-06-10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3520440" cy="4343400"/>
          </a:xfrm>
          <a:prstGeom prst="roundRect">
            <a:avLst>
              <a:gd name="adj" fmla="val 1558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344168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Tier 1: report backbone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3232" y="1673352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dirty="0">
                <a:solidFill>
                  <a:srgbClr val="E8EEF5"/>
                </a:solidFill>
              </a:rPr>
              <a:t>JEPX public day-ahead offer-stack depth and regime screens.</a:t>
            </a:r>
            <a:endParaRPr lang="en-US" sz="1000" dirty="0"/>
          </a:p>
          <a:p>
            <a:r>
              <a:rPr lang="en-US" sz="1000" dirty="0">
                <a:solidFill>
                  <a:srgbClr val="E8EEF5"/>
                </a:solidFill>
              </a:rPr>
              <a:t>JEPX public intraday trade, volume, contract, and range data.</a:t>
            </a:r>
            <a:endParaRPr lang="en-US" sz="1000" dirty="0"/>
          </a:p>
          <a:p>
            <a:r>
              <a:rPr lang="en-US" sz="1000" dirty="0">
                <a:solidFill>
                  <a:srgbClr val="E8EEF5"/>
                </a:solidFill>
              </a:rPr>
              <a:t>Processed Tokyo/Kansai generation mix, residual thermal, and daily shape.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48463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4AC18E"/>
                </a:solidFill>
              </a:rPr>
              <a:t>Use for directional market-structure conclusions.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4343400" y="1234440"/>
            <a:ext cx="3520440" cy="4343400"/>
          </a:xfrm>
          <a:prstGeom prst="roundRect">
            <a:avLst>
              <a:gd name="adj" fmla="val 1558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1416" y="1344168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Tier 2: dashboard proxy context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53712" y="1673352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dirty="0">
                <a:solidFill>
                  <a:srgbClr val="E8EEF5"/>
                </a:solidFill>
              </a:rPr>
              <a:t>Sample historical power, fuel, FX, SRMC, and forward curves.</a:t>
            </a:r>
            <a:endParaRPr lang="en-US" sz="1000" dirty="0"/>
          </a:p>
          <a:p>
            <a:r>
              <a:rPr lang="en-US" sz="1000" dirty="0">
                <a:solidFill>
                  <a:srgbClr val="E8EEF5"/>
                </a:solidFill>
              </a:rPr>
              <a:t>Useful for workflow and relationship testing.</a:t>
            </a:r>
            <a:endParaRPr lang="en-US" sz="1000" dirty="0"/>
          </a:p>
          <a:p>
            <a:r>
              <a:rPr lang="en-US" sz="1000" dirty="0">
                <a:solidFill>
                  <a:srgbClr val="E8EEF5"/>
                </a:solidFill>
              </a:rPr>
              <a:t>Not settlement-grade marks or a substitute for broker/vendor curves.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4846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4B844"/>
                </a:solidFill>
              </a:rPr>
              <a:t>Use for caveated screening only.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8183880" y="1234440"/>
            <a:ext cx="3520440" cy="4343400"/>
          </a:xfrm>
          <a:prstGeom prst="roundRect">
            <a:avLst>
              <a:gd name="adj" fmla="val 1558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1896" y="1344168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Tier 3: excluded from hard claims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94192" y="1673352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dirty="0">
                <a:solidFill>
                  <a:srgbClr val="E8EEF5"/>
                </a:solidFill>
              </a:rPr>
              <a:t>Participant-level bidding behavior.</a:t>
            </a:r>
            <a:endParaRPr lang="en-US" sz="1000" dirty="0"/>
          </a:p>
          <a:p>
            <a:r>
              <a:rPr lang="en-US" sz="1000" dirty="0">
                <a:solidFill>
                  <a:srgbClr val="E8EEF5"/>
                </a:solidFill>
              </a:rPr>
              <a:t>Plant-level outage attribution unless linked to verified news/vendor data.</a:t>
            </a:r>
            <a:endParaRPr lang="en-US" sz="1000" dirty="0"/>
          </a:p>
          <a:p>
            <a:r>
              <a:rPr lang="en-US" sz="1000" dirty="0">
                <a:solidFill>
                  <a:srgbClr val="E8EEF5"/>
                </a:solidFill>
              </a:rPr>
              <a:t>Live order-book or current tradable futures levels.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94192" y="48463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26D7D"/>
                </a:solidFill>
              </a:rPr>
              <a:t>Flag as future pipeline upgrades.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502920" y="623620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AA8B4"/>
                </a:solidFill>
              </a:rPr>
              <a:t>Sources referenced: JEPX day-ahead/intraday market data, JapanesePower.org regional datasets, OCCTO, METI/ANRE Strategic Energy Plan.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C7EC">
              <a:alpha val="82000"/>
            </a:srgbClr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11384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4"/>
                </a:solidFill>
              </a:rPr>
              <a:t>Three analyst conclusions from the May dashboard run.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Japan Fuel &amp; Power Market Dashboard | May 2026 report | Public / sample-data screening deck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9921240" y="653796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Generated 2026-06-10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02920" y="1216152"/>
            <a:ext cx="3566160" cy="4526280"/>
          </a:xfrm>
          <a:prstGeom prst="roundRect">
            <a:avLst>
              <a:gd name="adj" fmla="val 1538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325880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1. System was buffered, not broadly scarce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3232" y="1673352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80" dirty="0">
                <a:solidFill>
                  <a:srgbClr val="E8EEF5"/>
                </a:solidFill>
              </a:rPr>
              <a:t>System offer-stack scarcity flags were limited: 2 scarcity blocks and 84 thin blocks across 4,176 records.</a:t>
            </a:r>
            <a:endParaRPr lang="en-US" sz="980" dirty="0"/>
          </a:p>
          <a:p>
            <a:r>
              <a:rPr lang="en-US" sz="980" dirty="0">
                <a:solidFill>
                  <a:srgbClr val="E8EEF5"/>
                </a:solidFill>
              </a:rPr>
              <a:t>Average system clearing estimate was 14.20 JPY/kWh; average upside depth was 8.6 GW.</a:t>
            </a:r>
            <a:endParaRPr lang="en-US" sz="980" dirty="0"/>
          </a:p>
          <a:p>
            <a:r>
              <a:rPr lang="en-US" sz="980" dirty="0">
                <a:solidFill>
                  <a:srgbClr val="E8EEF5"/>
                </a:solidFill>
              </a:rPr>
              <a:t>Market implication: focus on block-level scarcity, not a blanket May tightness story.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343400" y="1216152"/>
            <a:ext cx="3566160" cy="4526280"/>
          </a:xfrm>
          <a:prstGeom prst="roundRect">
            <a:avLst>
              <a:gd name="adj" fmla="val 1538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1325880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2. Tokyo remained structurally tighter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53712" y="1673352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80" dirty="0">
                <a:solidFill>
                  <a:srgbClr val="E8EEF5"/>
                </a:solidFill>
              </a:rPr>
              <a:t>Tokyo residual thermal share was 58.6% versus Kansai 34.7%.</a:t>
            </a:r>
            <a:endParaRPr lang="en-US" sz="980" dirty="0"/>
          </a:p>
          <a:p>
            <a:r>
              <a:rPr lang="en-US" sz="980" dirty="0">
                <a:solidFill>
                  <a:srgbClr val="E8EEF5"/>
                </a:solidFill>
              </a:rPr>
              <a:t>Tokyo evening thermal ramp averaged 5.8 GW versus Kansai 1.9 GW.</a:t>
            </a:r>
            <a:endParaRPr lang="en-US" sz="980" dirty="0"/>
          </a:p>
          <a:p>
            <a:r>
              <a:rPr lang="en-US" sz="980" dirty="0">
                <a:solidFill>
                  <a:srgbClr val="E8EEF5"/>
                </a:solidFill>
              </a:rPr>
              <a:t>Market implication: Tokyo area premia deserve monitoring into hotter load conditions.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183880" y="1216152"/>
            <a:ext cx="3566160" cy="4526280"/>
          </a:xfrm>
          <a:prstGeom prst="roundRect">
            <a:avLst>
              <a:gd name="adj" fmla="val 1538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325880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3. Fuel easing was not the whole story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394192" y="1673352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80" dirty="0">
                <a:solidFill>
                  <a:srgbClr val="E8EEF5"/>
                </a:solidFill>
              </a:rPr>
              <a:t>Sample JKM fell -10.2% m/m and CFR Japan coal fell -12.8% m/m.</a:t>
            </a:r>
            <a:endParaRPr lang="en-US" sz="980" dirty="0"/>
          </a:p>
          <a:p>
            <a:r>
              <a:rPr lang="en-US" sz="980" dirty="0">
                <a:solidFill>
                  <a:srgbClr val="E8EEF5"/>
                </a:solidFill>
              </a:rPr>
              <a:t>JEPX system sample averaged 14.5 JPY/kWh above coal SRMC and 10.0 above JKM gas SRMC.</a:t>
            </a:r>
            <a:endParaRPr lang="en-US" sz="980" dirty="0"/>
          </a:p>
          <a:p>
            <a:r>
              <a:rPr lang="en-US" sz="980" dirty="0">
                <a:solidFill>
                  <a:srgbClr val="E8EEF5"/>
                </a:solidFill>
              </a:rPr>
              <a:t>Market implication: use the SRMC screen as a richness flag, then validate with real curves.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C7EC">
              <a:alpha val="82000"/>
            </a:srgbClr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Price and Fuel Screen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11384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4"/>
                </a:solidFill>
              </a:rPr>
              <a:t>Dashboard sample values indicate May fuel easing and softer average power, but these are proxy marks.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Japan Fuel &amp; Power Market Dashboard | May 2026 report | Public / sample-data screening deck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9921240" y="653796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Generated 2026-06-10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2057400" cy="1024128"/>
          </a:xfrm>
          <a:prstGeom prst="roundRect">
            <a:avLst>
              <a:gd name="adj" fmla="val 5357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43000"/>
            <a:ext cx="41148" cy="1024128"/>
          </a:xfrm>
          <a:prstGeom prst="rect">
            <a:avLst/>
          </a:prstGeom>
          <a:solidFill>
            <a:srgbClr val="54C7EC"/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261872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JEPX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9224" y="152704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21.63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" y="1947672"/>
            <a:ext cx="1764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-5.8% m/m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2743200" y="1143000"/>
            <a:ext cx="2057400" cy="1024128"/>
          </a:xfrm>
          <a:prstGeom prst="roundRect">
            <a:avLst>
              <a:gd name="adj" fmla="val 5357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143000"/>
            <a:ext cx="41148" cy="1024128"/>
          </a:xfrm>
          <a:prstGeom prst="rect">
            <a:avLst/>
          </a:prstGeom>
          <a:solidFill>
            <a:srgbClr val="F4B844"/>
          </a:solidFill>
          <a:ln w="12700">
            <a:solidFill>
              <a:srgbClr val="F4B84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9504" y="1261872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Tokyo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889504" y="152704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23.89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89504" y="1947672"/>
            <a:ext cx="1764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-5.8% m/m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4983480" y="1143000"/>
            <a:ext cx="2057400" cy="1024128"/>
          </a:xfrm>
          <a:prstGeom prst="roundRect">
            <a:avLst>
              <a:gd name="adj" fmla="val 5357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1143000"/>
            <a:ext cx="41148" cy="1024128"/>
          </a:xfrm>
          <a:prstGeom prst="rect">
            <a:avLst/>
          </a:prstGeom>
          <a:solidFill>
            <a:srgbClr val="4AC18E"/>
          </a:solidFill>
          <a:ln w="12700">
            <a:solidFill>
              <a:srgbClr val="4AC18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9784" y="1261872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Kansai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29784" y="152704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21.49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29784" y="1947672"/>
            <a:ext cx="1764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-5.3% m/m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7223760" y="1143000"/>
            <a:ext cx="2057400" cy="1024128"/>
          </a:xfrm>
          <a:prstGeom prst="roundRect">
            <a:avLst>
              <a:gd name="adj" fmla="val 5357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1143000"/>
            <a:ext cx="41148" cy="1024128"/>
          </a:xfrm>
          <a:prstGeom prst="rect">
            <a:avLst/>
          </a:prstGeom>
          <a:solidFill>
            <a:srgbClr val="A277F2"/>
          </a:solidFill>
          <a:ln w="12700">
            <a:solidFill>
              <a:srgbClr val="A277F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0064" y="1261872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JKM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70064" y="152704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12.39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70064" y="1947672"/>
            <a:ext cx="1764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-10.2% m/m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9464040" y="1143000"/>
            <a:ext cx="2057400" cy="1024128"/>
          </a:xfrm>
          <a:prstGeom prst="roundRect">
            <a:avLst>
              <a:gd name="adj" fmla="val 5357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64040" y="1143000"/>
            <a:ext cx="41148" cy="1024128"/>
          </a:xfrm>
          <a:prstGeom prst="rect">
            <a:avLst/>
          </a:prstGeom>
          <a:solidFill>
            <a:srgbClr val="F9734D"/>
          </a:solidFill>
          <a:ln w="12700">
            <a:solidFill>
              <a:srgbClr val="F973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10344" y="1261872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CFR Japan coal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10344" y="152704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123.4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10344" y="1947672"/>
            <a:ext cx="1764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-12.8% m/m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502920" y="2514600"/>
            <a:ext cx="5349240" cy="3063240"/>
          </a:xfrm>
          <a:prstGeom prst="roundRect">
            <a:avLst>
              <a:gd name="adj" fmla="val 1791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" y="2624328"/>
            <a:ext cx="509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SRMC richness screen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04672" y="30175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8EEF5"/>
                </a:solidFill>
              </a:rPr>
              <a:t>Coal SRMC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79192" y="3044952"/>
            <a:ext cx="2468880" cy="109728"/>
          </a:xfrm>
          <a:prstGeom prst="rect">
            <a:avLst/>
          </a:prstGeom>
          <a:solidFill>
            <a:srgbClr val="23313D"/>
          </a:solidFill>
          <a:ln w="12700">
            <a:solidFill>
              <a:srgbClr val="23313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79192" y="3044952"/>
            <a:ext cx="703715" cy="109728"/>
          </a:xfrm>
          <a:prstGeom prst="rect">
            <a:avLst/>
          </a:prstGeom>
          <a:solidFill>
            <a:srgbClr val="F9734D"/>
          </a:solidFill>
          <a:ln w="12700">
            <a:solidFill>
              <a:srgbClr val="F9734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76088" y="30083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8B4"/>
                </a:solidFill>
              </a:rPr>
              <a:t>7.13 JPY/kWh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4672" y="34930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8EEF5"/>
                </a:solidFill>
              </a:rPr>
              <a:t>JKM gas SRMC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679192" y="3520440"/>
            <a:ext cx="2468880" cy="109728"/>
          </a:xfrm>
          <a:prstGeom prst="rect">
            <a:avLst/>
          </a:prstGeom>
          <a:solidFill>
            <a:srgbClr val="23313D"/>
          </a:solidFill>
          <a:ln w="12700">
            <a:solidFill>
              <a:srgbClr val="23313D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9192" y="3520440"/>
            <a:ext cx="1151142" cy="109728"/>
          </a:xfrm>
          <a:prstGeom prst="rect">
            <a:avLst/>
          </a:prstGeom>
          <a:solidFill>
            <a:srgbClr val="A277F2"/>
          </a:solidFill>
          <a:ln w="12700">
            <a:solidFill>
              <a:srgbClr val="A277F2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76088" y="348386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8B4"/>
                </a:solidFill>
              </a:rPr>
              <a:t>11.7 JPY/kWh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4672" y="39684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8EEF5"/>
                </a:solidFill>
              </a:rPr>
              <a:t>JEPX system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679192" y="3995928"/>
            <a:ext cx="2468880" cy="109728"/>
          </a:xfrm>
          <a:prstGeom prst="rect">
            <a:avLst/>
          </a:prstGeom>
          <a:solidFill>
            <a:srgbClr val="23313D"/>
          </a:solidFill>
          <a:ln w="12700">
            <a:solidFill>
              <a:srgbClr val="23313D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79192" y="3995928"/>
            <a:ext cx="2135602" cy="109728"/>
          </a:xfrm>
          <a:prstGeom prst="rect">
            <a:avLst/>
          </a:prstGeom>
          <a:solidFill>
            <a:srgbClr val="54C7EC"/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76088" y="395935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8B4"/>
                </a:solidFill>
              </a:rPr>
              <a:t>21.6 JPY/kWh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04672" y="460857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8EEF5"/>
                </a:solidFill>
              </a:rPr>
              <a:t>Screened premium: +14.5 JPY/kWh vs coal SRMC and +10.0 JPY/kWh vs JKM gas SRMC. Treat this as a relationship flag, not a dispatch claim.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172200" y="2514600"/>
            <a:ext cx="5349240" cy="3063240"/>
          </a:xfrm>
          <a:prstGeom prst="roundRect">
            <a:avLst>
              <a:gd name="adj" fmla="val 1791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0216" y="2624328"/>
            <a:ext cx="509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Analyst read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400800" y="2971800"/>
            <a:ext cx="4846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solidFill>
                  <a:srgbClr val="E8EEF5"/>
                </a:solidFill>
              </a:rPr>
              <a:t>May fuel sample data points to lower variable-cost pressure, helped by softer LNG/coal and a firmer yen.</a:t>
            </a:r>
            <a:endParaRPr lang="en-US" sz="1050" dirty="0"/>
          </a:p>
          <a:p>
            <a:r>
              <a:rPr lang="en-US" sz="1050" dirty="0">
                <a:solidFill>
                  <a:srgbClr val="E8EEF5"/>
                </a:solidFill>
              </a:rPr>
              <a:t>Power averages fell m/m, but Tokyo stayed at a premium to Kansai.</a:t>
            </a:r>
            <a:endParaRPr lang="en-US" sz="1050" dirty="0"/>
          </a:p>
          <a:p>
            <a:r>
              <a:rPr lang="en-US" sz="1050" dirty="0">
                <a:solidFill>
                  <a:srgbClr val="E8EEF5"/>
                </a:solidFill>
              </a:rPr>
              <a:t>The useful trade question is not simply whether fuel fell, but which hours/areas failed to reprice as stack depth changed.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C7EC">
              <a:alpha val="82000"/>
            </a:srgbClr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Tokyo vs Kansai Supply Shape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11384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4"/>
                </a:solidFill>
              </a:rPr>
              <a:t>Processed monthly generation mix shows a structurally different residual thermal exposure.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Japan Fuel &amp; Power Market Dashboard | May 2026 report | Public / sample-data screening deck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9921240" y="653796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Generated 2026-06-10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5440680" cy="4480560"/>
          </a:xfrm>
          <a:prstGeom prst="roundRect">
            <a:avLst>
              <a:gd name="adj" fmla="val 1224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252728"/>
            <a:ext cx="5184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Monthly generation share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5727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5"/>
                </a:solidFill>
              </a:rPr>
              <a:t>Tokyo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17320" y="1828800"/>
            <a:ext cx="1849158" cy="384048"/>
          </a:xfrm>
          <a:prstGeom prst="rect">
            <a:avLst/>
          </a:prstGeom>
          <a:solidFill>
            <a:srgbClr val="6A8FFF"/>
          </a:solidFill>
          <a:ln w="12700">
            <a:solidFill>
              <a:srgbClr val="6A8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1938528"/>
            <a:ext cx="177600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Gas 48%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3266478" y="1828800"/>
            <a:ext cx="620621" cy="384048"/>
          </a:xfrm>
          <a:prstGeom prst="rect">
            <a:avLst/>
          </a:prstGeom>
          <a:solidFill>
            <a:srgbClr val="F9734D"/>
          </a:solidFill>
          <a:ln w="12700">
            <a:solidFill>
              <a:srgbClr val="F9734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3054" y="1938528"/>
            <a:ext cx="54746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Coal 16%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887099" y="1828800"/>
            <a:ext cx="225813" cy="384048"/>
          </a:xfrm>
          <a:prstGeom prst="rect">
            <a:avLst/>
          </a:prstGeom>
          <a:solidFill>
            <a:srgbClr val="4AC18E"/>
          </a:solidFill>
          <a:ln w="12700">
            <a:solidFill>
              <a:srgbClr val="4AC18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2912" y="1828800"/>
            <a:ext cx="644747" cy="384048"/>
          </a:xfrm>
          <a:prstGeom prst="rect">
            <a:avLst/>
          </a:prstGeom>
          <a:solidFill>
            <a:srgbClr val="F4B844"/>
          </a:solidFill>
          <a:ln w="12700">
            <a:solidFill>
              <a:srgbClr val="F4B84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49488" y="1938528"/>
            <a:ext cx="57159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Solar 17%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757659" y="1828800"/>
            <a:ext cx="229831" cy="384048"/>
          </a:xfrm>
          <a:prstGeom prst="rect">
            <a:avLst/>
          </a:prstGeom>
          <a:solidFill>
            <a:srgbClr val="54C7EC"/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7490" y="1828800"/>
            <a:ext cx="79726" cy="384048"/>
          </a:xfrm>
          <a:prstGeom prst="rect">
            <a:avLst/>
          </a:prstGeom>
          <a:solidFill>
            <a:srgbClr val="F26D7D"/>
          </a:solidFill>
          <a:ln w="12700">
            <a:solidFill>
              <a:srgbClr val="F26D7D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67216" y="1828800"/>
            <a:ext cx="18288" cy="384048"/>
          </a:xfrm>
          <a:prstGeom prst="rect">
            <a:avLst/>
          </a:prstGeom>
          <a:solidFill>
            <a:srgbClr val="9AA8B4"/>
          </a:solidFill>
          <a:ln w="12700">
            <a:solidFill>
              <a:srgbClr val="9AA8B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85504" y="1828800"/>
            <a:ext cx="28915" cy="384048"/>
          </a:xfrm>
          <a:prstGeom prst="rect">
            <a:avLst/>
          </a:prstGeom>
          <a:solidFill>
            <a:srgbClr val="A277F2"/>
          </a:solidFill>
          <a:ln w="12700">
            <a:solidFill>
              <a:srgbClr val="A277F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101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5"/>
                </a:solidFill>
              </a:rPr>
              <a:t>Kansai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417320" y="3566160"/>
            <a:ext cx="873046" cy="384048"/>
          </a:xfrm>
          <a:prstGeom prst="rect">
            <a:avLst/>
          </a:prstGeom>
          <a:solidFill>
            <a:srgbClr val="6A8FFF"/>
          </a:solidFill>
          <a:ln w="12700">
            <a:solidFill>
              <a:srgbClr val="6A8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53896" y="3675888"/>
            <a:ext cx="79989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Gas 22%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290366" y="3566160"/>
            <a:ext cx="622795" cy="384048"/>
          </a:xfrm>
          <a:prstGeom prst="rect">
            <a:avLst/>
          </a:prstGeom>
          <a:solidFill>
            <a:srgbClr val="F9734D"/>
          </a:solidFill>
          <a:ln w="12700">
            <a:solidFill>
              <a:srgbClr val="F973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26942" y="3675888"/>
            <a:ext cx="54964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Coal 16%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913161" y="3566160"/>
            <a:ext cx="1104032" cy="384048"/>
          </a:xfrm>
          <a:prstGeom prst="rect">
            <a:avLst/>
          </a:prstGeom>
          <a:solidFill>
            <a:srgbClr val="4AC18E"/>
          </a:solidFill>
          <a:ln w="12700">
            <a:solidFill>
              <a:srgbClr val="4AC18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49737" y="3675888"/>
            <a:ext cx="1030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Nuclear 28%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017193" y="3566160"/>
            <a:ext cx="530701" cy="384048"/>
          </a:xfrm>
          <a:prstGeom prst="rect">
            <a:avLst/>
          </a:prstGeom>
          <a:solidFill>
            <a:srgbClr val="F4B844"/>
          </a:solidFill>
          <a:ln w="12700">
            <a:solidFill>
              <a:srgbClr val="F4B84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53769" y="3675888"/>
            <a:ext cx="45754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Solar 14%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547894" y="3566160"/>
            <a:ext cx="474065" cy="384048"/>
          </a:xfrm>
          <a:prstGeom prst="rect">
            <a:avLst/>
          </a:prstGeom>
          <a:solidFill>
            <a:srgbClr val="54C7EC"/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84470" y="3675888"/>
            <a:ext cx="40091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Hydro 12%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5021959" y="3566160"/>
            <a:ext cx="113423" cy="384048"/>
          </a:xfrm>
          <a:prstGeom prst="rect">
            <a:avLst/>
          </a:prstGeom>
          <a:solidFill>
            <a:srgbClr val="F26D7D"/>
          </a:solidFill>
          <a:ln w="12700">
            <a:solidFill>
              <a:srgbClr val="F26D7D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35382" y="3566160"/>
            <a:ext cx="21122" cy="384048"/>
          </a:xfrm>
          <a:prstGeom prst="rect">
            <a:avLst/>
          </a:prstGeom>
          <a:solidFill>
            <a:srgbClr val="9AA8B4"/>
          </a:solidFill>
          <a:ln w="12700">
            <a:solidFill>
              <a:srgbClr val="9AA8B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56504" y="3566160"/>
            <a:ext cx="18288" cy="384048"/>
          </a:xfrm>
          <a:prstGeom prst="rect">
            <a:avLst/>
          </a:prstGeom>
          <a:solidFill>
            <a:srgbClr val="A277F2"/>
          </a:solidFill>
          <a:ln w="12700">
            <a:solidFill>
              <a:srgbClr val="A277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4937760"/>
            <a:ext cx="109728" cy="109728"/>
          </a:xfrm>
          <a:prstGeom prst="rect">
            <a:avLst/>
          </a:prstGeom>
          <a:solidFill>
            <a:srgbClr val="6A8FFF"/>
          </a:solidFill>
          <a:ln w="12700">
            <a:solidFill>
              <a:srgbClr val="6A8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" y="49011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AA8B4"/>
                </a:solidFill>
              </a:rPr>
              <a:t>Gas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1399032" y="4937760"/>
            <a:ext cx="109728" cy="109728"/>
          </a:xfrm>
          <a:prstGeom prst="rect">
            <a:avLst/>
          </a:prstGeom>
          <a:solidFill>
            <a:srgbClr val="F9734D"/>
          </a:solidFill>
          <a:ln w="12700">
            <a:solidFill>
              <a:srgbClr val="F9734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45336" y="49011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AA8B4"/>
                </a:solidFill>
              </a:rPr>
              <a:t>Coal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2020824" y="4937760"/>
            <a:ext cx="109728" cy="109728"/>
          </a:xfrm>
          <a:prstGeom prst="rect">
            <a:avLst/>
          </a:prstGeom>
          <a:solidFill>
            <a:srgbClr val="4AC18E"/>
          </a:solidFill>
          <a:ln w="12700">
            <a:solidFill>
              <a:srgbClr val="4AC18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67128" y="49011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AA8B4"/>
                </a:solidFill>
              </a:rPr>
              <a:t>Nuclear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2642616" y="4937760"/>
            <a:ext cx="109728" cy="109728"/>
          </a:xfrm>
          <a:prstGeom prst="rect">
            <a:avLst/>
          </a:prstGeom>
          <a:solidFill>
            <a:srgbClr val="F4B844"/>
          </a:solidFill>
          <a:ln w="12700">
            <a:solidFill>
              <a:srgbClr val="F4B84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88920" y="49011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AA8B4"/>
                </a:solidFill>
              </a:rPr>
              <a:t>Solar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3264408" y="4937760"/>
            <a:ext cx="109728" cy="109728"/>
          </a:xfrm>
          <a:prstGeom prst="rect">
            <a:avLst/>
          </a:prstGeom>
          <a:solidFill>
            <a:srgbClr val="54C7EC"/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10712" y="49011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AA8B4"/>
                </a:solidFill>
              </a:rPr>
              <a:t>Hydro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3886200" y="4937760"/>
            <a:ext cx="109728" cy="109728"/>
          </a:xfrm>
          <a:prstGeom prst="rect">
            <a:avLst/>
          </a:prstGeom>
          <a:solidFill>
            <a:srgbClr val="F26D7D"/>
          </a:solidFill>
          <a:ln w="12700">
            <a:solidFill>
              <a:srgbClr val="F26D7D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32504" y="49011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AA8B4"/>
                </a:solidFill>
              </a:rPr>
              <a:t>Biomass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4507992" y="4937760"/>
            <a:ext cx="109728" cy="109728"/>
          </a:xfrm>
          <a:prstGeom prst="rect">
            <a:avLst/>
          </a:prstGeom>
          <a:solidFill>
            <a:srgbClr val="9AA8B4"/>
          </a:solidFill>
          <a:ln w="12700">
            <a:solidFill>
              <a:srgbClr val="9AA8B4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54296" y="49011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AA8B4"/>
                </a:solidFill>
              </a:rPr>
              <a:t>Oil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5129784" y="4937760"/>
            <a:ext cx="109728" cy="109728"/>
          </a:xfrm>
          <a:prstGeom prst="rect">
            <a:avLst/>
          </a:prstGeom>
          <a:solidFill>
            <a:srgbClr val="A277F2"/>
          </a:solidFill>
          <a:ln w="12700">
            <a:solidFill>
              <a:srgbClr val="A277F2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76088" y="49011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AA8B4"/>
                </a:solidFill>
              </a:rPr>
              <a:t>Wind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6263640" y="1143000"/>
            <a:ext cx="5257800" cy="4480560"/>
          </a:xfrm>
          <a:prstGeom prst="roundRect">
            <a:avLst>
              <a:gd name="adj" fmla="val 1224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91656" y="1252728"/>
            <a:ext cx="5001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Thermal reliance and shape risk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537960" y="18288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8EEF5"/>
                </a:solidFill>
              </a:rPr>
              <a:t>Tokyo residual thermal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412480" y="1856232"/>
            <a:ext cx="2148840" cy="109728"/>
          </a:xfrm>
          <a:prstGeom prst="rect">
            <a:avLst/>
          </a:prstGeom>
          <a:solidFill>
            <a:srgbClr val="23313D"/>
          </a:solidFill>
          <a:ln w="12700">
            <a:solidFill>
              <a:srgbClr val="23313D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12480" y="1856232"/>
            <a:ext cx="1799654" cy="109728"/>
          </a:xfrm>
          <a:prstGeom prst="rect">
            <a:avLst/>
          </a:prstGeom>
          <a:solidFill>
            <a:srgbClr val="F9734D"/>
          </a:solidFill>
          <a:ln w="12700">
            <a:solidFill>
              <a:srgbClr val="F9734D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689336" y="18196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8B4"/>
                </a:solidFill>
              </a:rPr>
              <a:t>58.6%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537960" y="23042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8EEF5"/>
                </a:solidFill>
              </a:rPr>
              <a:t>Kansai residual thermal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412480" y="2331720"/>
            <a:ext cx="2148840" cy="109728"/>
          </a:xfrm>
          <a:prstGeom prst="rect">
            <a:avLst/>
          </a:prstGeom>
          <a:solidFill>
            <a:srgbClr val="23313D"/>
          </a:solidFill>
          <a:ln w="12700">
            <a:solidFill>
              <a:srgbClr val="23313D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12480" y="2331720"/>
            <a:ext cx="1064136" cy="109728"/>
          </a:xfrm>
          <a:prstGeom prst="rect">
            <a:avLst/>
          </a:prstGeom>
          <a:solidFill>
            <a:srgbClr val="4AC18E"/>
          </a:solidFill>
          <a:ln w="12700">
            <a:solidFill>
              <a:srgbClr val="4AC18E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689336" y="229514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8B4"/>
                </a:solidFill>
              </a:rPr>
              <a:t>34.7%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537960" y="30632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8EEF5"/>
                </a:solidFill>
              </a:rPr>
              <a:t>Tokyo solar midday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412480" y="3090672"/>
            <a:ext cx="2148840" cy="109728"/>
          </a:xfrm>
          <a:prstGeom prst="rect">
            <a:avLst/>
          </a:prstGeom>
          <a:solidFill>
            <a:srgbClr val="23313D"/>
          </a:solidFill>
          <a:ln w="12700">
            <a:solidFill>
              <a:srgbClr val="23313D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12480" y="3090672"/>
            <a:ext cx="1655200" cy="109728"/>
          </a:xfrm>
          <a:prstGeom prst="rect">
            <a:avLst/>
          </a:prstGeom>
          <a:solidFill>
            <a:srgbClr val="F4B844"/>
          </a:solidFill>
          <a:ln w="12700">
            <a:solidFill>
              <a:srgbClr val="F4B844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689336" y="30540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8B4"/>
                </a:solidFill>
              </a:rPr>
              <a:t>38.5%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537960" y="35387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8EEF5"/>
                </a:solidFill>
              </a:rPr>
              <a:t>Kansai solar midday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412480" y="3566160"/>
            <a:ext cx="2148840" cy="109728"/>
          </a:xfrm>
          <a:prstGeom prst="rect">
            <a:avLst/>
          </a:prstGeom>
          <a:solidFill>
            <a:srgbClr val="23313D"/>
          </a:solidFill>
          <a:ln w="12700">
            <a:solidFill>
              <a:srgbClr val="23313D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412480" y="3566160"/>
            <a:ext cx="1219924" cy="109728"/>
          </a:xfrm>
          <a:prstGeom prst="rect">
            <a:avLst/>
          </a:prstGeom>
          <a:solidFill>
            <a:srgbClr val="F4B844"/>
          </a:solidFill>
          <a:ln w="12700">
            <a:solidFill>
              <a:srgbClr val="F4B844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689336" y="35295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8B4"/>
                </a:solidFill>
              </a:rPr>
              <a:t>28.4%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537960" y="43159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8EEF5"/>
                </a:solidFill>
              </a:rPr>
              <a:t>Tokyo evening thermal ramp averaged 5.8 GW versus Kansai 1.9 GW. Kansai also carried 80.3 GWh of renewable curtailment in the processed shape file.</a:t>
            </a:r>
            <a:endParaRPr lang="en-US" sz="930" dirty="0"/>
          </a:p>
        </p:txBody>
      </p:sp>
      <p:sp>
        <p:nvSpPr>
          <p:cNvPr id="70" name="Text 68"/>
          <p:cNvSpPr/>
          <p:nvPr/>
        </p:nvSpPr>
        <p:spPr>
          <a:xfrm>
            <a:off x="502920" y="623620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AA8B4"/>
                </a:solidFill>
              </a:rPr>
              <a:t>Source: processed Tokyo/Kansai generation monthly, residual thermal, and daily shape tables from JapanesePower.org regional public data.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C7EC">
              <a:alpha val="82000"/>
            </a:srgbClr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JEPX Offer-Stack Read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11384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4"/>
                </a:solidFill>
              </a:rPr>
              <a:t>Ex-post public stack curves show where depth was thin around clearing.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Japan Fuel &amp; Power Market Dashboard | May 2026 report | Public / sample-data screening deck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9921240" y="653796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Generated 2026-06-10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2377440" cy="1078992"/>
          </a:xfrm>
          <a:prstGeom prst="roundRect">
            <a:avLst>
              <a:gd name="adj" fmla="val 5085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15568"/>
            <a:ext cx="41148" cy="1078992"/>
          </a:xfrm>
          <a:prstGeom prst="rect">
            <a:avLst/>
          </a:prstGeom>
          <a:solidFill>
            <a:srgbClr val="54C7EC"/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23444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System clearing estimate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9224" y="149961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14.58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" y="1920240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JPY/kWh average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3063240" y="1115568"/>
            <a:ext cx="2377440" cy="1078992"/>
          </a:xfrm>
          <a:prstGeom prst="roundRect">
            <a:avLst>
              <a:gd name="adj" fmla="val 5085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1115568"/>
            <a:ext cx="41148" cy="1078992"/>
          </a:xfrm>
          <a:prstGeom prst="rect">
            <a:avLst/>
          </a:prstGeom>
          <a:solidFill>
            <a:srgbClr val="4AC18E"/>
          </a:solidFill>
          <a:ln w="12700">
            <a:solidFill>
              <a:srgbClr val="4AC18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9544" y="123444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System tightest depth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9544" y="149961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7.4 GW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9544" y="1920240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Average around clearing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5623560" y="1115568"/>
            <a:ext cx="2377440" cy="1078992"/>
          </a:xfrm>
          <a:prstGeom prst="roundRect">
            <a:avLst>
              <a:gd name="adj" fmla="val 5085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1115568"/>
            <a:ext cx="41148" cy="1078992"/>
          </a:xfrm>
          <a:prstGeom prst="rect">
            <a:avLst/>
          </a:prstGeom>
          <a:solidFill>
            <a:srgbClr val="F4B844"/>
          </a:solidFill>
          <a:ln w="12700">
            <a:solidFill>
              <a:srgbClr val="F4B84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9864" y="123444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Thin system blocks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769864" y="149961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2.1%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69864" y="1920240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84 records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8183880" y="1115568"/>
            <a:ext cx="2377440" cy="1078992"/>
          </a:xfrm>
          <a:prstGeom prst="roundRect">
            <a:avLst>
              <a:gd name="adj" fmla="val 5085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1115568"/>
            <a:ext cx="41148" cy="1078992"/>
          </a:xfrm>
          <a:prstGeom prst="rect">
            <a:avLst/>
          </a:prstGeom>
          <a:solidFill>
            <a:srgbClr val="F26D7D"/>
          </a:solidFill>
          <a:ln w="12700">
            <a:solidFill>
              <a:srgbClr val="F26D7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0184" y="123444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Scarcity system blocks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330184" y="149961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0.04%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30184" y="1920240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2 records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502920" y="2487168"/>
            <a:ext cx="5486400" cy="3063240"/>
          </a:xfrm>
          <a:prstGeom prst="roundRect">
            <a:avLst>
              <a:gd name="adj" fmla="val 1791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" y="259689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Selected benchmark area groups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2960" y="29718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8EEF5"/>
                </a:solidFill>
              </a:rPr>
              <a:t>System avg clearing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97480" y="2999232"/>
            <a:ext cx="2286000" cy="109728"/>
          </a:xfrm>
          <a:prstGeom prst="rect">
            <a:avLst/>
          </a:prstGeom>
          <a:solidFill>
            <a:srgbClr val="23313D"/>
          </a:solidFill>
          <a:ln w="12700">
            <a:solidFill>
              <a:srgbClr val="23313D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7480" y="2999232"/>
            <a:ext cx="1333005" cy="109728"/>
          </a:xfrm>
          <a:prstGeom prst="rect">
            <a:avLst/>
          </a:prstGeom>
          <a:solidFill>
            <a:srgbClr val="54C7EC"/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11496" y="29626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8B4"/>
                </a:solidFill>
              </a:rPr>
              <a:t>14.6 JPY/kWh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2960" y="34472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8EEF5"/>
                </a:solidFill>
              </a:rPr>
              <a:t>East/Tokyo group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697480" y="3474720"/>
            <a:ext cx="2286000" cy="109728"/>
          </a:xfrm>
          <a:prstGeom prst="rect">
            <a:avLst/>
          </a:prstGeom>
          <a:solidFill>
            <a:srgbClr val="23313D"/>
          </a:solidFill>
          <a:ln w="12700">
            <a:solidFill>
              <a:srgbClr val="23313D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97480" y="3474720"/>
            <a:ext cx="1629440" cy="109728"/>
          </a:xfrm>
          <a:prstGeom prst="rect">
            <a:avLst/>
          </a:prstGeom>
          <a:solidFill>
            <a:srgbClr val="F4B844"/>
          </a:solidFill>
          <a:ln w="12700">
            <a:solidFill>
              <a:srgbClr val="F4B84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11496" y="343814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8B4"/>
                </a:solidFill>
              </a:rPr>
              <a:t>17.8 JPY/kWh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" y="39227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8EEF5"/>
                </a:solidFill>
              </a:rPr>
              <a:t>West/Kansai group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97480" y="3950208"/>
            <a:ext cx="2286000" cy="109728"/>
          </a:xfrm>
          <a:prstGeom prst="rect">
            <a:avLst/>
          </a:prstGeom>
          <a:solidFill>
            <a:srgbClr val="23313D"/>
          </a:solidFill>
          <a:ln w="12700">
            <a:solidFill>
              <a:srgbClr val="23313D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97480" y="3950208"/>
            <a:ext cx="1059586" cy="109728"/>
          </a:xfrm>
          <a:prstGeom prst="rect">
            <a:avLst/>
          </a:prstGeom>
          <a:solidFill>
            <a:srgbClr val="4AC18E"/>
          </a:solidFill>
          <a:ln w="12700">
            <a:solidFill>
              <a:srgbClr val="4AC18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11496" y="391363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8B4"/>
                </a:solidFill>
              </a:rPr>
              <a:t>11.6 JPY/kWh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22960" y="45994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8EEF5"/>
                </a:solidFill>
              </a:rPr>
              <a:t>East thin share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697480" y="4626864"/>
            <a:ext cx="2286000" cy="109728"/>
          </a:xfrm>
          <a:prstGeom prst="rect">
            <a:avLst/>
          </a:prstGeom>
          <a:solidFill>
            <a:srgbClr val="23313D"/>
          </a:solidFill>
          <a:ln w="12700">
            <a:solidFill>
              <a:srgbClr val="23313D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97480" y="4626864"/>
            <a:ext cx="851009" cy="109728"/>
          </a:xfrm>
          <a:prstGeom prst="rect">
            <a:avLst/>
          </a:prstGeom>
          <a:solidFill>
            <a:srgbClr val="F26D7D"/>
          </a:solidFill>
          <a:ln w="12700">
            <a:solidFill>
              <a:srgbClr val="F26D7D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11496" y="459028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8B4"/>
                </a:solidFill>
              </a:rPr>
              <a:t>24.2%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960" y="50749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8EEF5"/>
                </a:solidFill>
              </a:rPr>
              <a:t>West thin share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697480" y="5102352"/>
            <a:ext cx="2286000" cy="109728"/>
          </a:xfrm>
          <a:prstGeom prst="rect">
            <a:avLst/>
          </a:prstGeom>
          <a:solidFill>
            <a:srgbClr val="23313D"/>
          </a:solidFill>
          <a:ln w="12700">
            <a:solidFill>
              <a:srgbClr val="23313D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97480" y="5102352"/>
            <a:ext cx="724072" cy="109728"/>
          </a:xfrm>
          <a:prstGeom prst="rect">
            <a:avLst/>
          </a:prstGeom>
          <a:solidFill>
            <a:srgbClr val="F9734D"/>
          </a:solidFill>
          <a:ln w="12700">
            <a:solidFill>
              <a:srgbClr val="F9734D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11496" y="50657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8B4"/>
                </a:solidFill>
              </a:rPr>
              <a:t>20.6%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309360" y="2487168"/>
            <a:ext cx="5212080" cy="3063240"/>
          </a:xfrm>
          <a:prstGeom prst="roundRect">
            <a:avLst>
              <a:gd name="adj" fmla="val 1791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37376" y="2596896"/>
            <a:ext cx="4956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Market interpretation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537960" y="2944368"/>
            <a:ext cx="4709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E8EEF5"/>
                </a:solidFill>
              </a:rPr>
              <a:t>System balance was broadly adequate in May, but selected East/Tokyo and West/Kansai-linked area groups showed materially thinner local depth.</a:t>
            </a:r>
            <a:endParaRPr lang="en-US" sz="1020" dirty="0"/>
          </a:p>
          <a:p>
            <a:r>
              <a:rPr lang="en-US" sz="1020" dirty="0">
                <a:solidFill>
                  <a:srgbClr val="E8EEF5"/>
                </a:solidFill>
              </a:rPr>
              <a:t>Thin-stack flags matter most when they cluster in evening ramp or high-load blocks, because small demand/fuel/weather shocks can move clearing more sharply.</a:t>
            </a:r>
            <a:endParaRPr lang="en-US" sz="1020" dirty="0"/>
          </a:p>
          <a:p>
            <a:r>
              <a:rPr lang="en-US" sz="1020" dirty="0">
                <a:solidFill>
                  <a:srgbClr val="E8EEF5"/>
                </a:solidFill>
              </a:rPr>
              <a:t>For trading use, pair this view with block-level spreads and intraday convergence rather than treating one daily average as the signal.</a:t>
            </a:r>
            <a:endParaRPr lang="en-US" sz="1020" dirty="0"/>
          </a:p>
        </p:txBody>
      </p:sp>
      <p:sp>
        <p:nvSpPr>
          <p:cNvPr id="52" name="Text 50"/>
          <p:cNvSpPr/>
          <p:nvPr/>
        </p:nvSpPr>
        <p:spPr>
          <a:xfrm>
            <a:off x="502920" y="623620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AA8B4"/>
                </a:solidFill>
              </a:rPr>
              <a:t>Source: JEPX public bidding-curve/price-sensitivity data processed into offer-stack depth and regime screens.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C7EC">
              <a:alpha val="82000"/>
            </a:srgbClr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Intraday Liquidity and Convergence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11384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4"/>
                </a:solidFill>
              </a:rPr>
              <a:t>Processed JEPX intraday data gives the best public read on short-term balancing behavior.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Japan Fuel &amp; Power Market Dashboard | May 2026 report | Public / sample-data screening deck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9921240" y="653796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Generated 2026-06-10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43000"/>
            <a:ext cx="41148" cy="1097280"/>
          </a:xfrm>
          <a:prstGeom prst="rect">
            <a:avLst/>
          </a:prstGeom>
          <a:solidFill>
            <a:srgbClr val="54C7EC"/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26187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Average price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9224" y="152704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14.84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" y="194767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JPY/kWh, processed intraday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3063240" y="114300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1143000"/>
            <a:ext cx="41148" cy="1097280"/>
          </a:xfrm>
          <a:prstGeom prst="rect">
            <a:avLst/>
          </a:prstGeom>
          <a:solidFill>
            <a:srgbClr val="4AC18E"/>
          </a:solidFill>
          <a:ln w="12700">
            <a:solidFill>
              <a:srgbClr val="4AC18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9544" y="126187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Daily volume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9544" y="152704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24.5 GWh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9544" y="194767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Average May session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5623560" y="114300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1143000"/>
            <a:ext cx="41148" cy="1097280"/>
          </a:xfrm>
          <a:prstGeom prst="rect">
            <a:avLst/>
          </a:prstGeom>
          <a:solidFill>
            <a:srgbClr val="A277F2"/>
          </a:solidFill>
          <a:ln w="12700">
            <a:solidFill>
              <a:srgbClr val="A277F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9864" y="126187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Daily contracts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769864" y="152704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9,953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69864" y="194767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Average count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8183880" y="114300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1143000"/>
            <a:ext cx="41148" cy="1097280"/>
          </a:xfrm>
          <a:prstGeom prst="rect">
            <a:avLst/>
          </a:prstGeom>
          <a:solidFill>
            <a:srgbClr val="F4B844"/>
          </a:solidFill>
          <a:ln w="12700">
            <a:solidFill>
              <a:srgbClr val="F4B84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0184" y="126187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High-low range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330184" y="152704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17.4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30184" y="194767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JPY/kWh average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502920" y="2697480"/>
            <a:ext cx="5349240" cy="2697480"/>
          </a:xfrm>
          <a:prstGeom prst="roundRect">
            <a:avLst>
              <a:gd name="adj" fmla="val 2034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" y="2807208"/>
            <a:ext cx="509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Trading read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7240" y="3136392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30" dirty="0">
                <a:solidFill>
                  <a:srgbClr val="E8EEF5"/>
                </a:solidFill>
              </a:rPr>
              <a:t>Healthy intraday volume means convergence signals are more useful than pure screen averages.</a:t>
            </a:r>
            <a:endParaRPr lang="en-US" sz="1030" dirty="0"/>
          </a:p>
          <a:p>
            <a:r>
              <a:rPr lang="en-US" sz="1030" dirty="0">
                <a:solidFill>
                  <a:srgbClr val="E8EEF5"/>
                </a:solidFill>
              </a:rPr>
              <a:t>Wide block ranges indicate pockets of balancing stress even when daily averages look benign.</a:t>
            </a:r>
            <a:endParaRPr lang="en-US" sz="1030" dirty="0"/>
          </a:p>
          <a:p>
            <a:r>
              <a:rPr lang="en-US" sz="1030" dirty="0">
                <a:solidFill>
                  <a:srgbClr val="E8EEF5"/>
                </a:solidFill>
              </a:rPr>
              <a:t>Next upgrade: chart block-level spot-intraday spread by hour group and flag repeated late-day divergence.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172200" y="2697480"/>
            <a:ext cx="5349240" cy="2697480"/>
          </a:xfrm>
          <a:prstGeom prst="roundRect">
            <a:avLst>
              <a:gd name="adj" fmla="val 2034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2807208"/>
            <a:ext cx="509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Data note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46520" y="3136392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</a:rPr>
              <a:t>The deck uses processed intraday public data for this page. The sample historical table contains a different JEPX intraday average, so it should not be mixed with this public-data metric until the pipeline is reconciled.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623620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AA8B4"/>
                </a:solidFill>
              </a:rPr>
              <a:t>Source: JEPX public intraday CSV processed into daily price, volume, contracts, and high-low range summary.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C7EC">
              <a:alpha val="82000"/>
            </a:srgbClr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Weather and Early Summer Setup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11384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4"/>
                </a:solidFill>
              </a:rPr>
              <a:t>May was more a shoulder-season structure month than a heat-load stress month.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Japan Fuel &amp; Power Market Dashboard | May 2026 report | Public / sample-data screening deck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9921240" y="653796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Generated 2026-06-10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2240280" cy="1078992"/>
          </a:xfrm>
          <a:prstGeom prst="roundRect">
            <a:avLst>
              <a:gd name="adj" fmla="val 5085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43000"/>
            <a:ext cx="41148" cy="1078992"/>
          </a:xfrm>
          <a:prstGeom prst="rect">
            <a:avLst/>
          </a:prstGeom>
          <a:solidFill>
            <a:srgbClr val="54C7EC"/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26187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Tokyo temp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9224" y="152704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17.5 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" y="1947672"/>
            <a:ext cx="1947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Average sample weather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2971800" y="1143000"/>
            <a:ext cx="2240280" cy="1078992"/>
          </a:xfrm>
          <a:prstGeom prst="roundRect">
            <a:avLst>
              <a:gd name="adj" fmla="val 5085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1143000"/>
            <a:ext cx="41148" cy="1078992"/>
          </a:xfrm>
          <a:prstGeom prst="rect">
            <a:avLst/>
          </a:prstGeom>
          <a:solidFill>
            <a:srgbClr val="4AC18E"/>
          </a:solidFill>
          <a:ln w="12700">
            <a:solidFill>
              <a:srgbClr val="4AC18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18104" y="126187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Kansai temp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18104" y="152704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18.9 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118104" y="1947672"/>
            <a:ext cx="1947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Average sample weather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5440680" y="1143000"/>
            <a:ext cx="2240280" cy="1078992"/>
          </a:xfrm>
          <a:prstGeom prst="roundRect">
            <a:avLst>
              <a:gd name="adj" fmla="val 5085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40680" y="1143000"/>
            <a:ext cx="41148" cy="1078992"/>
          </a:xfrm>
          <a:prstGeom prst="rect">
            <a:avLst/>
          </a:prstGeom>
          <a:solidFill>
            <a:srgbClr val="F4B844"/>
          </a:solidFill>
          <a:ln w="12700">
            <a:solidFill>
              <a:srgbClr val="F4B84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86984" y="126187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Tokyo CDD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586984" y="152704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0.0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86984" y="1947672"/>
            <a:ext cx="1947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Low heat signal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7909560" y="1143000"/>
            <a:ext cx="2240280" cy="1078992"/>
          </a:xfrm>
          <a:prstGeom prst="roundRect">
            <a:avLst>
              <a:gd name="adj" fmla="val 5085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9560" y="1143000"/>
            <a:ext cx="41148" cy="1078992"/>
          </a:xfrm>
          <a:prstGeom prst="rect">
            <a:avLst/>
          </a:prstGeom>
          <a:solidFill>
            <a:srgbClr val="F4B844"/>
          </a:solidFill>
          <a:ln w="12700">
            <a:solidFill>
              <a:srgbClr val="F4B84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55864" y="126187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A8B4"/>
                </a:solidFill>
              </a:rPr>
              <a:t>Kansai CDD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055864" y="152704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EEF5"/>
                </a:solidFill>
              </a:rPr>
              <a:t>6.0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55864" y="1947672"/>
            <a:ext cx="1947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8B4"/>
                </a:solidFill>
              </a:rPr>
              <a:t>Low heat signal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502920" y="2697480"/>
            <a:ext cx="5394960" cy="2788920"/>
          </a:xfrm>
          <a:prstGeom prst="roundRect">
            <a:avLst>
              <a:gd name="adj" fmla="val 1967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" y="280720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Why this matters for June-August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7240" y="3127248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80" dirty="0">
                <a:solidFill>
                  <a:srgbClr val="E8EEF5"/>
                </a:solidFill>
              </a:rPr>
              <a:t>May did not yet test summer cooling load, so stack-depth and ramp screens are the better early warning tools.</a:t>
            </a:r>
            <a:endParaRPr lang="en-US" sz="980" dirty="0"/>
          </a:p>
          <a:p>
            <a:r>
              <a:rPr lang="en-US" sz="980" dirty="0">
                <a:solidFill>
                  <a:srgbClr val="E8EEF5"/>
                </a:solidFill>
              </a:rPr>
              <a:t>OCCTO's public materials point to peak-demand/capacity monitoring as the key summer reliability frame.</a:t>
            </a:r>
            <a:endParaRPr lang="en-US" sz="980" dirty="0"/>
          </a:p>
          <a:p>
            <a:r>
              <a:rPr lang="en-US" sz="980" dirty="0">
                <a:solidFill>
                  <a:srgbClr val="E8EEF5"/>
                </a:solidFill>
              </a:rPr>
              <a:t>METI's energy plan reinforces the importance of thermal capacity for balancing renewable volatility, even as Japan targets more renewables and nuclear.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172200" y="2697480"/>
            <a:ext cx="5349240" cy="2788920"/>
          </a:xfrm>
          <a:prstGeom prst="roundRect">
            <a:avLst>
              <a:gd name="adj" fmla="val 1967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2807208"/>
            <a:ext cx="509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Analyst watchlist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46520" y="3127248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E8EEF5"/>
                </a:solidFill>
              </a:rPr>
              <a:t>Tokyo evening ramp depth versus weather-normal demand.</a:t>
            </a:r>
            <a:endParaRPr lang="en-US" sz="1020" dirty="0"/>
          </a:p>
          <a:p>
            <a:r>
              <a:rPr lang="en-US" sz="1020" dirty="0">
                <a:solidFill>
                  <a:srgbClr val="E8EEF5"/>
                </a:solidFill>
              </a:rPr>
              <a:t>Kansai nuclear availability and renewable curtailment risk.</a:t>
            </a:r>
            <a:endParaRPr lang="en-US" sz="1020" dirty="0"/>
          </a:p>
          <a:p>
            <a:r>
              <a:rPr lang="en-US" sz="1020" dirty="0">
                <a:solidFill>
                  <a:srgbClr val="E8EEF5"/>
                </a:solidFill>
              </a:rPr>
              <a:t>Spot-intraday convergence during high solar and late-day ramp blocks.</a:t>
            </a:r>
            <a:endParaRPr lang="en-US" sz="1020" dirty="0"/>
          </a:p>
          <a:p>
            <a:r>
              <a:rPr lang="en-US" sz="1020" dirty="0">
                <a:solidFill>
                  <a:srgbClr val="E8EEF5"/>
                </a:solidFill>
              </a:rPr>
              <a:t>Fuel curve repricing if LNG/coal softness reverses.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502920" y="623620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AA8B4"/>
                </a:solidFill>
              </a:rPr>
              <a:t>Sources: dashboard weather proxy, OCCTO public supply-demand role/outlook, METI/ANRE 7th Strategic Energy Plan outline.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C7EC">
              <a:alpha val="82000"/>
            </a:srgbClr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Trading Interpretation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11384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4"/>
                </a:solidFill>
              </a:rPr>
              <a:t>Actionable themes to monitor, without making black-box predictive claims.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Japan Fuel &amp; Power Market Dashboard | May 2026 report | Public / sample-data screening deck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9921240" y="653796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Generated 2026-06-10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3566160" cy="4526280"/>
          </a:xfrm>
          <a:prstGeom prst="roundRect">
            <a:avLst>
              <a:gd name="adj" fmla="val 1538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25272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Relative value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572768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E8EEF5"/>
                </a:solidFill>
              </a:rPr>
              <a:t>System price screened rich to fuel SRMC proxies despite softer fuel inputs.</a:t>
            </a:r>
            <a:endParaRPr lang="en-US" sz="1020" dirty="0"/>
          </a:p>
          <a:p>
            <a:r>
              <a:rPr lang="en-US" sz="1020" dirty="0">
                <a:solidFill>
                  <a:srgbClr val="E8EEF5"/>
                </a:solidFill>
              </a:rPr>
              <a:t>Do not trade the sample SRMC level directly; use it to prioritize spread checks after loading real curves.</a:t>
            </a:r>
            <a:endParaRPr lang="en-US" sz="1020" dirty="0"/>
          </a:p>
          <a:p>
            <a:r>
              <a:rPr lang="en-US" sz="1020" dirty="0">
                <a:solidFill>
                  <a:srgbClr val="E8EEF5"/>
                </a:solidFill>
              </a:rPr>
              <a:t>Watch for power underreaction if LNG/coal rallies into early summer.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31520" y="48006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4C7EC"/>
                </a:solidFill>
              </a:rPr>
              <a:t>Trader takeaway: validate fuel-to-power transmission with real fuel curves and hour/block power marks.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43400" y="1143000"/>
            <a:ext cx="3566160" cy="4526280"/>
          </a:xfrm>
          <a:prstGeom prst="roundRect">
            <a:avLst>
              <a:gd name="adj" fmla="val 1538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1416" y="125272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Regional structure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0" y="1572768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E8EEF5"/>
                </a:solidFill>
              </a:rPr>
              <a:t>Tokyo premium persisted and the area is more residual-thermal exposed.</a:t>
            </a:r>
            <a:endParaRPr lang="en-US" sz="1020" dirty="0"/>
          </a:p>
          <a:p>
            <a:r>
              <a:rPr lang="en-US" sz="1020" dirty="0">
                <a:solidFill>
                  <a:srgbClr val="E8EEF5"/>
                </a:solidFill>
              </a:rPr>
              <a:t>Kansai has more nuclear support, but renewable curtailment and evening ramp still matter.</a:t>
            </a:r>
            <a:endParaRPr lang="en-US" sz="1020" dirty="0"/>
          </a:p>
          <a:p>
            <a:r>
              <a:rPr lang="en-US" sz="1020" dirty="0">
                <a:solidFill>
                  <a:srgbClr val="E8EEF5"/>
                </a:solidFill>
              </a:rPr>
              <a:t>Monitor Tokyo-Kansai spread against East/West area-stack thinness.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572000" y="48006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B844"/>
                </a:solidFill>
              </a:rPr>
              <a:t>Trader takeaway: regional spread risk should be read through supply shape, not just daily average prices.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183880" y="1143000"/>
            <a:ext cx="3566160" cy="4526280"/>
          </a:xfrm>
          <a:prstGeom prst="roundRect">
            <a:avLst>
              <a:gd name="adj" fmla="val 1538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1896" y="125272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Market structure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412480" y="1572768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E8EEF5"/>
                </a:solidFill>
              </a:rPr>
              <a:t>System offer-stack was mostly balanced, but local thin-stack flags were meaningful.</a:t>
            </a:r>
            <a:endParaRPr lang="en-US" sz="1020" dirty="0"/>
          </a:p>
          <a:p>
            <a:r>
              <a:rPr lang="en-US" sz="1020" dirty="0">
                <a:solidFill>
                  <a:srgbClr val="E8EEF5"/>
                </a:solidFill>
              </a:rPr>
              <a:t>Intraday range remained wide enough to justify block-level convergence monitoring.</a:t>
            </a:r>
            <a:endParaRPr lang="en-US" sz="1020" dirty="0"/>
          </a:p>
          <a:p>
            <a:r>
              <a:rPr lang="en-US" sz="1020" dirty="0">
                <a:solidFill>
                  <a:srgbClr val="E8EEF5"/>
                </a:solidFill>
              </a:rPr>
              <a:t>The better signal is a repeated pattern: thin stack + wide intraday range + weather/ramp stress.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8412480" y="48006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AC18E"/>
                </a:solidFill>
              </a:rPr>
              <a:t>Trader takeaway: escalate from daily dashboards to block-level review when those three conditions align.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C7EC">
              <a:alpha val="82000"/>
            </a:srgbClr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Caveats and Upgrade Path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11384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4"/>
                </a:solidFill>
              </a:rPr>
              <a:t>What must be strengthened before this is treated as a production trading pack.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Japan Fuel &amp; Power Market Dashboard | May 2026 report | Public / sample-data screening deck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9921240" y="653796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Generated 2026-06-10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2527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Limitations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4800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10" dirty="0">
                <a:solidFill>
                  <a:srgbClr val="E8EEF5"/>
                </a:solidFill>
              </a:rPr>
              <a:t>Fuel, SRMC, power futures, and forward curves are sample/proxy values unless replaced by uploaded/vendor/broker data.</a:t>
            </a:r>
            <a:endParaRPr lang="en-US" sz="1010" dirty="0"/>
          </a:p>
          <a:p>
            <a:r>
              <a:rPr lang="en-US" sz="1010" dirty="0">
                <a:solidFill>
                  <a:srgbClr val="E8EEF5"/>
                </a:solidFill>
              </a:rPr>
              <a:t>Offer-stack analytics are ex-post public aggregate curves; they are not participant-level bids or a live order book.</a:t>
            </a:r>
            <a:endParaRPr lang="en-US" sz="1010" dirty="0"/>
          </a:p>
          <a:p>
            <a:r>
              <a:rPr lang="en-US" sz="1010" dirty="0">
                <a:solidFill>
                  <a:srgbClr val="E8EEF5"/>
                </a:solidFill>
              </a:rPr>
              <a:t>No May 2026 baseload trade-date rows were found in the current processed baseload cache.</a:t>
            </a:r>
            <a:endParaRPr lang="en-US" sz="1010" dirty="0"/>
          </a:p>
          <a:p>
            <a:r>
              <a:rPr lang="en-US" sz="1010" dirty="0">
                <a:solidFill>
                  <a:srgbClr val="E8EEF5"/>
                </a:solidFill>
              </a:rPr>
              <a:t>News pipeline did not return May rows in the local sample news table.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6172200" y="114300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252728"/>
            <a:ext cx="509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Highest-value next improvements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46520" y="1627632"/>
            <a:ext cx="4800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10" dirty="0">
                <a:solidFill>
                  <a:srgbClr val="E8EEF5"/>
                </a:solidFill>
              </a:rPr>
              <a:t>Load JSCC/JEPX futures or broker curves for Tokyo/Kansai baseload and peakload.</a:t>
            </a:r>
            <a:endParaRPr lang="en-US" sz="1010" dirty="0"/>
          </a:p>
          <a:p>
            <a:r>
              <a:rPr lang="en-US" sz="1010" dirty="0">
                <a:solidFill>
                  <a:srgbClr val="E8EEF5"/>
                </a:solidFill>
              </a:rPr>
              <a:t>Add verified plant availability, nuclear restart/outage, and solar/renewables pipeline news tagging.</a:t>
            </a:r>
            <a:endParaRPr lang="en-US" sz="1010" dirty="0"/>
          </a:p>
          <a:p>
            <a:r>
              <a:rPr lang="en-US" sz="1010" dirty="0">
                <a:solidFill>
                  <a:srgbClr val="E8EEF5"/>
                </a:solidFill>
              </a:rPr>
              <a:t>Reconcile intraday metrics so the sample historical table and processed public table use one definition.</a:t>
            </a:r>
            <a:endParaRPr lang="en-US" sz="1010" dirty="0"/>
          </a:p>
          <a:p>
            <a:r>
              <a:rPr lang="en-US" sz="1010" dirty="0">
                <a:solidFill>
                  <a:srgbClr val="E8EEF5"/>
                </a:solidFill>
              </a:rPr>
              <a:t>Publish a monthly pack template with automated data confidence flags.</a:t>
            </a:r>
            <a:endParaRPr lang="en-US" sz="10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C7EC">
              <a:alpha val="82000"/>
            </a:srgbClr>
          </a:solidFill>
          <a:ln w="12700">
            <a:solidFill>
              <a:srgbClr val="54C7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11384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8B4"/>
                </a:solidFill>
              </a:rPr>
              <a:t>Public references and local files used in the May review.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65379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Japan Fuel &amp; Power Market Dashboard | May 2026 report | Public / sample-data screening deck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9921240" y="653796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AA8B4"/>
                </a:solidFill>
              </a:rPr>
              <a:t>Generated 2026-06-10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11018520" cy="4983480"/>
          </a:xfrm>
          <a:prstGeom prst="roundRect">
            <a:avLst>
              <a:gd name="adj" fmla="val 1101"/>
            </a:avLst>
          </a:prstGeom>
          <a:solidFill>
            <a:srgbClr val="101922"/>
          </a:solidFill>
          <a:ln w="10160">
            <a:solidFill>
              <a:srgbClr val="273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252728"/>
            <a:ext cx="10762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5"/>
                </a:solidFill>
              </a:rPr>
              <a:t>References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627632"/>
            <a:ext cx="10241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20" dirty="0">
                <a:solidFill>
                  <a:srgbClr val="E8EEF5"/>
                </a:solidFill>
              </a:rPr>
              <a:t>JEPX day-ahead market data: public price/volume, bidding curve, price sensitivity, and download pages.</a:t>
            </a:r>
            <a:endParaRPr lang="en-US" sz="1020" dirty="0"/>
          </a:p>
          <a:p>
            <a:r>
              <a:rPr lang="en-US" sz="1020" dirty="0">
                <a:solidFill>
                  <a:srgbClr val="E8EEF5"/>
                </a:solidFill>
              </a:rPr>
              <a:t>JEPX intraday market data: public intraday price, volume, contracts, and download pages.</a:t>
            </a:r>
            <a:endParaRPr lang="en-US" sz="1020" dirty="0"/>
          </a:p>
          <a:p>
            <a:r>
              <a:rPr lang="en-US" sz="1020" dirty="0">
                <a:solidFill>
                  <a:srgbClr val="E8EEF5"/>
                </a:solidFill>
              </a:rPr>
              <a:t>JapanesePower.org: public regional half-hourly demand and generation mix archives used by the processed dashboard tables.</a:t>
            </a:r>
            <a:endParaRPr lang="en-US" sz="1020" dirty="0"/>
          </a:p>
          <a:p>
            <a:r>
              <a:rPr lang="en-US" sz="1020" dirty="0">
                <a:solidFill>
                  <a:srgbClr val="E8EEF5"/>
                </a:solidFill>
              </a:rPr>
              <a:t>OCCTO: public role and supply-demand monitoring context, including system reliability and capacity-market framing.</a:t>
            </a:r>
            <a:endParaRPr lang="en-US" sz="1020" dirty="0"/>
          </a:p>
          <a:p>
            <a:r>
              <a:rPr lang="en-US" sz="1020" dirty="0">
                <a:solidFill>
                  <a:srgbClr val="E8EEF5"/>
                </a:solidFill>
              </a:rPr>
              <a:t>METI/ANRE 7th Strategic Energy Plan outline: 2040 electricity demand, renewable, nuclear, and thermal policy context.</a:t>
            </a:r>
            <a:endParaRPr lang="en-US" sz="1020" dirty="0"/>
          </a:p>
          <a:p>
            <a:r>
              <a:rPr lang="en-US" sz="1020" dirty="0">
                <a:solidFill>
                  <a:srgbClr val="E8EEF5"/>
                </a:solidFill>
              </a:rPr>
              <a:t>Local dashboard files: local_metrics_may_2026.json, processed JEPX offer-stack/intraday tables, and Tokyo/Kansai supply mix tables.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22960" y="55595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B844"/>
                </a:solidFill>
              </a:rPr>
              <a:t>This slide deck is a market-intelligence screen, not investment advice and not a settlement-grade price publication.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11</Slides>
	<Notes>11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11</vt:i4></vt:variant>
		</vt:vector>
	</HeadingPairs>
	<TitlesOfParts>
		<vt:vector size="14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
		</vt:vector>
	</TitlesOfParts>
	<Company>Japan Fuel & Power Market Dashboard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Japan Power Market Review - May 2026</dc:title>
  <dc:subject>Japan power market review, May 2026</dc:subject>
  <dc:creator>Codex / Japan Fuel &amp; Power Market Dashboard</dc:creator>
  <cp:lastModifiedBy>Codex / Japan Fuel &amp; Power Market Dashboard</cp:lastModifiedBy>
  <cp:revision>1</cp:revision>
  <dcterms:created xsi:type="dcterms:W3CDTF">2026-06-10T14:22:51Z</dcterms:created>
  <dcterms:modified xsi:type="dcterms:W3CDTF">2026-06-10T14:22:51Z</dcterms:modified>
</cp:coreProperties>
</file>